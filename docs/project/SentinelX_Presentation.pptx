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716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spc="200" kern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SENTINELX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713232" y="23957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B8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Threat Intelligence &amp; SOC Platform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2999232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Threat Detection  •  Intelligence  •  Hunting  •  Incident Response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4160520"/>
            <a:ext cx="2101291" cy="914400"/>
          </a:xfrm>
          <a:prstGeom prst="roundRect">
            <a:avLst>
              <a:gd name="adj" fmla="val 8000"/>
            </a:avLst>
          </a:prstGeom>
          <a:solidFill>
            <a:srgbClr val="132A45"/>
          </a:solidFill>
          <a:ln w="15875">
            <a:solidFill>
              <a:srgbClr val="00B8C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4160520"/>
            <a:ext cx="20098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2663647" y="4471416"/>
            <a:ext cx="118872" cy="292608"/>
          </a:xfrm>
          <a:prstGeom prst="chevron">
            <a:avLst/>
          </a:prstGeom>
          <a:solidFill>
            <a:srgbClr val="FF7A45"/>
          </a:solidFill>
          <a:ln/>
        </p:spPr>
      </p:sp>
      <p:sp>
        <p:nvSpPr>
          <p:cNvPr id="8" name="Shape 6"/>
          <p:cNvSpPr/>
          <p:nvPr/>
        </p:nvSpPr>
        <p:spPr>
          <a:xfrm>
            <a:off x="2796235" y="4160520"/>
            <a:ext cx="2101291" cy="914400"/>
          </a:xfrm>
          <a:prstGeom prst="roundRect">
            <a:avLst>
              <a:gd name="adj" fmla="val 8000"/>
            </a:avLst>
          </a:prstGeom>
          <a:solidFill>
            <a:srgbClr val="132A45"/>
          </a:solidFill>
          <a:ln w="15875">
            <a:solidFill>
              <a:srgbClr val="00B8C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41955" y="4160520"/>
            <a:ext cx="20098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911242" y="4471416"/>
            <a:ext cx="118872" cy="292608"/>
          </a:xfrm>
          <a:prstGeom prst="chevron">
            <a:avLst/>
          </a:prstGeom>
          <a:solidFill>
            <a:srgbClr val="FF7A45"/>
          </a:solidFill>
          <a:ln/>
        </p:spPr>
      </p:sp>
      <p:sp>
        <p:nvSpPr>
          <p:cNvPr id="11" name="Shape 9"/>
          <p:cNvSpPr/>
          <p:nvPr/>
        </p:nvSpPr>
        <p:spPr>
          <a:xfrm>
            <a:off x="5043830" y="4160520"/>
            <a:ext cx="2101291" cy="914400"/>
          </a:xfrm>
          <a:prstGeom prst="roundRect">
            <a:avLst>
              <a:gd name="adj" fmla="val 8000"/>
            </a:avLst>
          </a:prstGeom>
          <a:solidFill>
            <a:srgbClr val="132A45"/>
          </a:solidFill>
          <a:ln w="15875">
            <a:solidFill>
              <a:srgbClr val="00B8C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89550" y="4160520"/>
            <a:ext cx="20098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Hunting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158838" y="4471416"/>
            <a:ext cx="118872" cy="292608"/>
          </a:xfrm>
          <a:prstGeom prst="chevron">
            <a:avLst/>
          </a:prstGeom>
          <a:solidFill>
            <a:srgbClr val="FF7A45"/>
          </a:solidFill>
          <a:ln/>
        </p:spPr>
      </p:sp>
      <p:sp>
        <p:nvSpPr>
          <p:cNvPr id="14" name="Shape 12"/>
          <p:cNvSpPr/>
          <p:nvPr/>
        </p:nvSpPr>
        <p:spPr>
          <a:xfrm>
            <a:off x="7291426" y="4160520"/>
            <a:ext cx="2101291" cy="914400"/>
          </a:xfrm>
          <a:prstGeom prst="roundRect">
            <a:avLst>
              <a:gd name="adj" fmla="val 8000"/>
            </a:avLst>
          </a:prstGeom>
          <a:solidFill>
            <a:srgbClr val="132A45"/>
          </a:solidFill>
          <a:ln w="15875">
            <a:solidFill>
              <a:srgbClr val="00B8C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37146" y="4160520"/>
            <a:ext cx="20098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9406433" y="4471416"/>
            <a:ext cx="118872" cy="292608"/>
          </a:xfrm>
          <a:prstGeom prst="chevron">
            <a:avLst/>
          </a:prstGeom>
          <a:solidFill>
            <a:srgbClr val="FF7A45"/>
          </a:solidFill>
          <a:ln/>
        </p:spPr>
      </p:sp>
      <p:sp>
        <p:nvSpPr>
          <p:cNvPr id="17" name="Shape 15"/>
          <p:cNvSpPr/>
          <p:nvPr/>
        </p:nvSpPr>
        <p:spPr>
          <a:xfrm>
            <a:off x="9539021" y="4160520"/>
            <a:ext cx="2101291" cy="914400"/>
          </a:xfrm>
          <a:prstGeom prst="roundRect">
            <a:avLst>
              <a:gd name="adj" fmla="val 8000"/>
            </a:avLst>
          </a:prstGeom>
          <a:solidFill>
            <a:srgbClr val="132A45"/>
          </a:solidFill>
          <a:ln w="15875">
            <a:solidFill>
              <a:srgbClr val="00B8C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584741" y="4160520"/>
            <a:ext cx="2009851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SOC Agent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31520" y="6080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9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Kiran Vasant Karenavar   |   BE Computer Engineering   |   Savitribai Phule Pune University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today's SOC workflows fall short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253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7335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attacks generate large volumes of security data.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54496" y="1600200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19088" y="20253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0296" y="167335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information is scattered across multiple, disconnected tools.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34610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461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manually investigate IPs, domains, hashes, alerts and emails.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54496" y="3035808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9088" y="34610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3461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0296" y="3108960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monitoring often lacks automated intelligence enrichment.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471416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8966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896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544568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Correlating endpoint events with external threat intelligence is slow.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54496" y="4471416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19088" y="48966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4896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0296" y="4544568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unified platform is needed for detection, investigation and response.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9110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73352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centralized SOC platform.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1600200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19088" y="19110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9" name="Text 7"/>
          <p:cNvSpPr/>
          <p:nvPr/>
        </p:nvSpPr>
        <p:spPr>
          <a:xfrm>
            <a:off x="6419088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0296" y="1673352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threat intelligence from multiple sources.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31181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880360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Wazuh and Sysmon for endpoint monitoring.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54496" y="2807208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9088" y="31181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7" name="Text 15"/>
          <p:cNvSpPr/>
          <p:nvPr/>
        </p:nvSpPr>
        <p:spPr>
          <a:xfrm>
            <a:off x="6419088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0296" y="2880360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Normalize, enrich and risk-score Indicators of Compromise.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014216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43251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087368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detection and correlation capabilities.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54496" y="4014216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19088" y="43251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5" name="Text 23"/>
          <p:cNvSpPr/>
          <p:nvPr/>
        </p:nvSpPr>
        <p:spPr>
          <a:xfrm>
            <a:off x="6419088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0296" y="4087368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threat hunting, phishing and honeypot investigation.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5221224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3232" y="55321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34440" y="5294376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 Machine Learning and an AI SOC assistant.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254496" y="5221224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19088" y="55321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33" name="Text 31"/>
          <p:cNvSpPr/>
          <p:nvPr/>
        </p:nvSpPr>
        <p:spPr>
          <a:xfrm>
            <a:off x="6419088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40296" y="5294376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a centralized security dashboard and incident workflow.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Existing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of the current, fragmented approach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253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7335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tools for SIEM, endpoint monitoring and threat intelligence.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54496" y="1600200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19088" y="20253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0296" y="167335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IOC enrichment and cross-checking.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34610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461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correlation between different security signals.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54496" y="3035808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9088" y="34610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3461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0296" y="3108960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switch between multiple dashboards and tools.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471416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8966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896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544568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Investigation and reporting can be slow and repetitive.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54496" y="4471416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19088" y="48966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4896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0296" y="4544568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automation across the complete SOC workflow.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System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SentinelX: one platform, full visibility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253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7335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SentinelX unifies security monitoring and threat intelligence.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54496" y="1600200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19088" y="20253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0296" y="167335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feeds are normalized, deduplicated and risk-scored.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34610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461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+ Sysmon telemetry feeds directly into the analysis workflow.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54496" y="3035808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9088" y="34610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3461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0296" y="3108960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combines events, IOC reputation and contextual evidence.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471416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8966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896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544568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hunting, phishing, honeypot, ML and AI modules extend visibility.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54496" y="4471416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19088" y="48966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4896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0296" y="4544568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and incident response give analysts one integrated workflow.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signals to analyst action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13509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21792" y="1801368"/>
            <a:ext cx="18672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Feeds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621792" y="2148840"/>
            <a:ext cx="18672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OTX • ThreatFox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AbuseIPDB • VT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589581" y="2180844"/>
            <a:ext cx="201168" cy="256032"/>
          </a:xfrm>
          <a:prstGeom prst="chevron">
            <a:avLst/>
          </a:prstGeom>
          <a:solidFill>
            <a:srgbClr val="FF7A45"/>
          </a:solidFill>
          <a:ln/>
        </p:spPr>
      </p:sp>
      <p:sp>
        <p:nvSpPr>
          <p:cNvPr id="8" name="Shape 6"/>
          <p:cNvSpPr/>
          <p:nvPr/>
        </p:nvSpPr>
        <p:spPr>
          <a:xfrm>
            <a:off x="2818181" y="1691640"/>
            <a:ext cx="2013509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891333" y="1801368"/>
            <a:ext cx="18672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2891333" y="2148840"/>
            <a:ext cx="18672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+ Sysmon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859122" y="2180844"/>
            <a:ext cx="201168" cy="256032"/>
          </a:xfrm>
          <a:prstGeom prst="chevron">
            <a:avLst/>
          </a:prstGeom>
          <a:solidFill>
            <a:srgbClr val="FF7A45"/>
          </a:solidFill>
          <a:ln/>
        </p:spPr>
      </p:sp>
      <p:sp>
        <p:nvSpPr>
          <p:cNvPr id="12" name="Shape 10"/>
          <p:cNvSpPr/>
          <p:nvPr/>
        </p:nvSpPr>
        <p:spPr>
          <a:xfrm>
            <a:off x="5087722" y="1691640"/>
            <a:ext cx="2013509" cy="1234440"/>
          </a:xfrm>
          <a:prstGeom prst="roundRect">
            <a:avLst>
              <a:gd name="adj" fmla="val 6667"/>
            </a:avLst>
          </a:prstGeom>
          <a:solidFill>
            <a:srgbClr val="00B8C4"/>
          </a:solidFill>
          <a:ln w="15875">
            <a:solidFill>
              <a:srgbClr val="00B8C4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160874" y="1801368"/>
            <a:ext cx="18672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SentinelX Core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160874" y="2148840"/>
            <a:ext cx="18672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E9FB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+ PostgreSQL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28662" y="2180844"/>
            <a:ext cx="201168" cy="256032"/>
          </a:xfrm>
          <a:prstGeom prst="chevron">
            <a:avLst/>
          </a:prstGeom>
          <a:solidFill>
            <a:srgbClr val="FF7A45"/>
          </a:solidFill>
          <a:ln/>
        </p:spPr>
      </p:sp>
      <p:sp>
        <p:nvSpPr>
          <p:cNvPr id="16" name="Shape 14"/>
          <p:cNvSpPr/>
          <p:nvPr/>
        </p:nvSpPr>
        <p:spPr>
          <a:xfrm>
            <a:off x="7357262" y="1691640"/>
            <a:ext cx="2013509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30414" y="1801368"/>
            <a:ext cx="18672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30414" y="2148840"/>
            <a:ext cx="18672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• ML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398203" y="2180844"/>
            <a:ext cx="201168" cy="256032"/>
          </a:xfrm>
          <a:prstGeom prst="chevron">
            <a:avLst/>
          </a:prstGeom>
          <a:solidFill>
            <a:srgbClr val="FF7A45"/>
          </a:solidFill>
          <a:ln/>
        </p:spPr>
      </p:sp>
      <p:sp>
        <p:nvSpPr>
          <p:cNvPr id="20" name="Shape 18"/>
          <p:cNvSpPr/>
          <p:nvPr/>
        </p:nvSpPr>
        <p:spPr>
          <a:xfrm>
            <a:off x="9626803" y="1691640"/>
            <a:ext cx="2013509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5875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9699955" y="1801368"/>
            <a:ext cx="186720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699955" y="2148840"/>
            <a:ext cx="186720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• AI</a:t>
            </a:r>
            <a:endParaRPr lang="en-US" sz="105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Response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48640" y="3429000"/>
            <a:ext cx="17266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0B8C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94360" y="3429000"/>
            <a:ext cx="16352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289048" y="3717036"/>
            <a:ext cx="118872" cy="292608"/>
          </a:xfrm>
          <a:prstGeom prst="chevron">
            <a:avLst/>
          </a:prstGeom>
          <a:solidFill>
            <a:srgbClr val="FF7A45"/>
          </a:solidFill>
          <a:ln/>
        </p:spPr>
      </p:sp>
      <p:sp>
        <p:nvSpPr>
          <p:cNvPr id="26" name="Shape 24"/>
          <p:cNvSpPr/>
          <p:nvPr/>
        </p:nvSpPr>
        <p:spPr>
          <a:xfrm>
            <a:off x="2421636" y="3429000"/>
            <a:ext cx="17266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0B8C4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467356" y="3429000"/>
            <a:ext cx="16352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162044" y="3717036"/>
            <a:ext cx="118872" cy="292608"/>
          </a:xfrm>
          <a:prstGeom prst="chevron">
            <a:avLst/>
          </a:prstGeom>
          <a:solidFill>
            <a:srgbClr val="FF7A45"/>
          </a:solidFill>
          <a:ln/>
        </p:spPr>
      </p:sp>
      <p:sp>
        <p:nvSpPr>
          <p:cNvPr id="29" name="Shape 27"/>
          <p:cNvSpPr/>
          <p:nvPr/>
        </p:nvSpPr>
        <p:spPr>
          <a:xfrm>
            <a:off x="4294632" y="3429000"/>
            <a:ext cx="17266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0B8C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340352" y="3429000"/>
            <a:ext cx="16352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6035040" y="3717036"/>
            <a:ext cx="118872" cy="292608"/>
          </a:xfrm>
          <a:prstGeom prst="chevron">
            <a:avLst/>
          </a:prstGeom>
          <a:solidFill>
            <a:srgbClr val="FF7A45"/>
          </a:solidFill>
          <a:ln/>
        </p:spPr>
      </p:sp>
      <p:sp>
        <p:nvSpPr>
          <p:cNvPr id="32" name="Shape 30"/>
          <p:cNvSpPr/>
          <p:nvPr/>
        </p:nvSpPr>
        <p:spPr>
          <a:xfrm>
            <a:off x="6167628" y="3429000"/>
            <a:ext cx="17266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0B8C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213348" y="3429000"/>
            <a:ext cx="16352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908036" y="3717036"/>
            <a:ext cx="118872" cy="292608"/>
          </a:xfrm>
          <a:prstGeom prst="chevron">
            <a:avLst/>
          </a:prstGeom>
          <a:solidFill>
            <a:srgbClr val="FF7A45"/>
          </a:solidFill>
          <a:ln/>
        </p:spPr>
      </p:sp>
      <p:sp>
        <p:nvSpPr>
          <p:cNvPr id="35" name="Shape 33"/>
          <p:cNvSpPr/>
          <p:nvPr/>
        </p:nvSpPr>
        <p:spPr>
          <a:xfrm>
            <a:off x="8040624" y="3429000"/>
            <a:ext cx="17266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0B8C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86344" y="3429000"/>
            <a:ext cx="16352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9781032" y="3717036"/>
            <a:ext cx="118872" cy="292608"/>
          </a:xfrm>
          <a:prstGeom prst="chevron">
            <a:avLst/>
          </a:prstGeom>
          <a:solidFill>
            <a:srgbClr val="FF7A45"/>
          </a:solidFill>
          <a:ln/>
        </p:spPr>
      </p:sp>
      <p:sp>
        <p:nvSpPr>
          <p:cNvPr id="38" name="Shape 36"/>
          <p:cNvSpPr/>
          <p:nvPr/>
        </p:nvSpPr>
        <p:spPr>
          <a:xfrm>
            <a:off x="9913620" y="3429000"/>
            <a:ext cx="1726692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5875">
            <a:solidFill>
              <a:srgbClr val="00B8C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959340" y="3429000"/>
            <a:ext cx="16352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548640" y="4617720"/>
            <a:ext cx="11091672" cy="777240"/>
          </a:xfrm>
          <a:prstGeom prst="roundRect">
            <a:avLst>
              <a:gd name="adj" fmla="val 9412"/>
            </a:avLst>
          </a:prstGeom>
          <a:solidFill>
            <a:srgbClr val="0A1628"/>
          </a:solidFill>
          <a:ln/>
        </p:spPr>
      </p:sp>
      <p:sp>
        <p:nvSpPr>
          <p:cNvPr id="41" name="Text 39"/>
          <p:cNvSpPr/>
          <p:nvPr/>
        </p:nvSpPr>
        <p:spPr>
          <a:xfrm>
            <a:off x="685800" y="4617720"/>
            <a:ext cx="1081735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Unified flow: security data  →  threat context  →  prioritized detection  →  analyst action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9110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73352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Frontend: React + Vite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1600200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19088" y="19110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9" name="Text 7"/>
          <p:cNvSpPr/>
          <p:nvPr/>
        </p:nvSpPr>
        <p:spPr>
          <a:xfrm>
            <a:off x="6419088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0296" y="1673352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Backend: Python + FastAPI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31181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880360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PostgreSQL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54496" y="2807208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9088" y="31181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7" name="Text 15"/>
          <p:cNvSpPr/>
          <p:nvPr/>
        </p:nvSpPr>
        <p:spPr>
          <a:xfrm>
            <a:off x="6419088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0296" y="2880360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 / Endpoint: Wazuh + Sysmon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014216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43251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087368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Intelligence: OTX, ThreatFox, AbuseIPDB, VirusTotal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54496" y="4014216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19088" y="43251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5" name="Text 23"/>
          <p:cNvSpPr/>
          <p:nvPr/>
        </p:nvSpPr>
        <p:spPr>
          <a:xfrm>
            <a:off x="6419088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0296" y="4087368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Learning: Python ML pipeline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5221224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3232" y="55321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34440" y="5294376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Environment: Ubuntu/Linux, Windows, Virtual Machines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254496" y="5221224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19088" y="55321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33" name="Text 31"/>
          <p:cNvSpPr/>
          <p:nvPr/>
        </p:nvSpPr>
        <p:spPr>
          <a:xfrm>
            <a:off x="6419088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40296" y="5294376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Development: REST APIs, Git and GitHub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Intelligence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indicators into scored context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253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7335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IOCs from multiple threat intelligence providers.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54496" y="1600200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19088" y="20253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0296" y="167335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indicators into a common internal structure.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34610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461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Deduplicate and store intelligence in PostgreSQL.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54496" y="3035808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9088" y="34610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3461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0296" y="3108960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IPs, domains, URLs and hashes with reputation and context.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471416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8966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896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544568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risk score and severity for prioritization.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54496" y="4471416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19088" y="48966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4896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0296" y="4544568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enriched intelligence into detection and investigation.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Wazuh + Sysmon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telemetry pipeline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66319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0B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691640"/>
            <a:ext cx="25717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Sysmon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(endpoint events)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25546" y="2071116"/>
            <a:ext cx="118872" cy="292608"/>
          </a:xfrm>
          <a:prstGeom prst="chevron">
            <a:avLst/>
          </a:prstGeom>
          <a:solidFill>
            <a:srgbClr val="FF7A45"/>
          </a:solidFill>
          <a:ln/>
        </p:spPr>
      </p:sp>
      <p:sp>
        <p:nvSpPr>
          <p:cNvPr id="7" name="Shape 5"/>
          <p:cNvSpPr/>
          <p:nvPr/>
        </p:nvSpPr>
        <p:spPr>
          <a:xfrm>
            <a:off x="3358134" y="1691640"/>
            <a:ext cx="266319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0B8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03854" y="1691640"/>
            <a:ext cx="25717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Agent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2071116"/>
            <a:ext cx="118872" cy="292608"/>
          </a:xfrm>
          <a:prstGeom prst="chevron">
            <a:avLst/>
          </a:prstGeom>
          <a:solidFill>
            <a:srgbClr val="FF7A45"/>
          </a:solidFill>
          <a:ln/>
        </p:spPr>
      </p:sp>
      <p:sp>
        <p:nvSpPr>
          <p:cNvPr id="10" name="Shape 8"/>
          <p:cNvSpPr/>
          <p:nvPr/>
        </p:nvSpPr>
        <p:spPr>
          <a:xfrm>
            <a:off x="6167628" y="1691640"/>
            <a:ext cx="266319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0B8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13348" y="1691640"/>
            <a:ext cx="25717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Manager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844534" y="2071116"/>
            <a:ext cx="118872" cy="292608"/>
          </a:xfrm>
          <a:prstGeom prst="chevron">
            <a:avLst/>
          </a:prstGeom>
          <a:solidFill>
            <a:srgbClr val="FF7A45"/>
          </a:solidFill>
          <a:ln/>
        </p:spPr>
      </p:sp>
      <p:sp>
        <p:nvSpPr>
          <p:cNvPr id="13" name="Shape 11"/>
          <p:cNvSpPr/>
          <p:nvPr/>
        </p:nvSpPr>
        <p:spPr>
          <a:xfrm>
            <a:off x="8977122" y="1691640"/>
            <a:ext cx="266319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5875">
            <a:solidFill>
              <a:srgbClr val="00B8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22842" y="1691640"/>
            <a:ext cx="257175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48640" y="3063240"/>
            <a:ext cx="5385816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13232" y="335127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7" name="Text 15"/>
          <p:cNvSpPr/>
          <p:nvPr/>
        </p:nvSpPr>
        <p:spPr>
          <a:xfrm>
            <a:off x="713232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34440" y="3136392"/>
            <a:ext cx="45171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Sysmon captures Windows process, network, file and registry activity.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54496" y="3063240"/>
            <a:ext cx="5385816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19088" y="335127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1" name="Text 19"/>
          <p:cNvSpPr/>
          <p:nvPr/>
        </p:nvSpPr>
        <p:spPr>
          <a:xfrm>
            <a:off x="6419088" y="33512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940296" y="3136392"/>
            <a:ext cx="45171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Agent forwards endpoint events to the Wazuh Manager.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4224528"/>
            <a:ext cx="5385816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13232" y="451256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5" name="Text 23"/>
          <p:cNvSpPr/>
          <p:nvPr/>
        </p:nvSpPr>
        <p:spPr>
          <a:xfrm>
            <a:off x="713232" y="45125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234440" y="4297680"/>
            <a:ext cx="45171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analyzes endpoint security activity and generates alerts.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6254496" y="4224528"/>
            <a:ext cx="5385816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419088" y="451256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9" name="Text 27"/>
          <p:cNvSpPr/>
          <p:nvPr/>
        </p:nvSpPr>
        <p:spPr>
          <a:xfrm>
            <a:off x="6419088" y="45125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940296" y="4297680"/>
            <a:ext cx="45171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SentinelX consumes the relevant security information.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548640" y="5385816"/>
            <a:ext cx="5385816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3232" y="567385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33" name="Text 31"/>
          <p:cNvSpPr/>
          <p:nvPr/>
        </p:nvSpPr>
        <p:spPr>
          <a:xfrm>
            <a:off x="713232" y="56738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1234440" y="5458968"/>
            <a:ext cx="4517136" cy="8138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are enriched with threat intelligence and correlated with other signals.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Detection Engine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events into prioritized alerts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253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7335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normalized security events and alerts.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54496" y="1600200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19088" y="20253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0296" y="167335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Performs IOC matching against threat intelligence.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34610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461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Combines reputation, severity and contextual evidence.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54496" y="3035808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9088" y="34610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3461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0296" y="3108960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Applies detection and correlation logic.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471416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8966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896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544568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Prioritizes suspicious activity for analyst investigation.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54496" y="4471416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19088" y="48966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4896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0296" y="4544568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 raw events into actionable security alerts.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Threat Hunting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searching for hidden threats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253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7335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Proactively search for threats instead of waiting for alerts.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54496" y="1600200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19088" y="20253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0296" y="167335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suspicious IPs, domains, hashes and endpoint behaviors.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34610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461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investigation hypotheses and targeted queries.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54496" y="3035808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9088" y="34610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3461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0296" y="3108960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endpoint activity with threat intelligence.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471416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8966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896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544568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findings and document investigation results.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Phishing Investigation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20253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7335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suspicious sender information and email content.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1600200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19088" y="20253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9" name="Text 7"/>
          <p:cNvSpPr/>
          <p:nvPr/>
        </p:nvSpPr>
        <p:spPr>
          <a:xfrm>
            <a:off x="6419088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0296" y="167335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URLs, domains, IP addresses and file hashes.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035808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34610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461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108960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Enrich extracted indicators using threat intelligence.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54496" y="3035808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9088" y="34610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7" name="Text 15"/>
          <p:cNvSpPr/>
          <p:nvPr/>
        </p:nvSpPr>
        <p:spPr>
          <a:xfrm>
            <a:off x="6419088" y="3461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0296" y="3108960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 risk and classify the email.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471416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48966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896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544568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analyst decisions: benign, suspicious or malicious.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Honeypot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from controlled decoy systems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253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7335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controlled decoy systems to observe malicious activity.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54496" y="1600200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19088" y="20253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0296" y="167335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source IPs, connection attempts and attacker actions.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34610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461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and enrich observed indicators.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54496" y="3035808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9088" y="34610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3461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0296" y="3108960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 high-confidence events into detection.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471416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8966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896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544568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honeypot telemetry to understand attacker behavior.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20253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7335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meaningful features from security events.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1600200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19088" y="20253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9" name="Text 7"/>
          <p:cNvSpPr/>
          <p:nvPr/>
        </p:nvSpPr>
        <p:spPr>
          <a:xfrm>
            <a:off x="6419088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0296" y="167335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an ML model to estimate threat likelihood.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3035808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34610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461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3108960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classification and prioritization of suspicious activity.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54496" y="3035808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9088" y="34610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7" name="Text 15"/>
          <p:cNvSpPr/>
          <p:nvPr/>
        </p:nvSpPr>
        <p:spPr>
          <a:xfrm>
            <a:off x="6419088" y="3461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0296" y="3108960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ML output with rules and threat intelligence.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471416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48966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896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544568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analysts in the decision loop for security actions.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SOC Agent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assistance, not uncontrolled autonomy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253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7335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 analysts with natural-language security investigations.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54496" y="1600200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19088" y="20253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0296" y="167335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alerts and relevant threat intelligence.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34610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461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 why an event may be suspicious.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54496" y="3035808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9088" y="34610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3461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0296" y="3108960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 investigation steps and response actions.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471416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8966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896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544568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create incident summaries and analyst reports.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54496" y="4471416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19088" y="48966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4896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0296" y="4544568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as analyst assistance rather than uncontrolled autonomous response.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interface for SOC analyst operations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20253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34440" y="167335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Centralized view of alerts, IOCs and threat intelligence.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54496" y="1600200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19088" y="20253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0" name="Text 8"/>
          <p:cNvSpPr/>
          <p:nvPr/>
        </p:nvSpPr>
        <p:spPr>
          <a:xfrm>
            <a:off x="6419088" y="20253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940296" y="1673352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status and severity visualization.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48640" y="3035808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713232" y="34610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461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34440" y="3108960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search and enrichment results.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54496" y="3035808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19088" y="34610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8" name="Text 16"/>
          <p:cNvSpPr/>
          <p:nvPr/>
        </p:nvSpPr>
        <p:spPr>
          <a:xfrm>
            <a:off x="6419088" y="34610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940296" y="3108960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 and investigation views.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48640" y="4471416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713232" y="48966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896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234440" y="4544568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information and response workflow.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6254496" y="4471416"/>
            <a:ext cx="5385816" cy="123444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19088" y="48966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6" name="Text 24"/>
          <p:cNvSpPr/>
          <p:nvPr/>
        </p:nvSpPr>
        <p:spPr>
          <a:xfrm>
            <a:off x="6419088" y="48966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40296" y="4544568"/>
            <a:ext cx="4517136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interface for SOC analyst operations.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548640" y="6108192"/>
            <a:ext cx="11091672" cy="384048"/>
          </a:xfrm>
          <a:prstGeom prst="roundRect">
            <a:avLst>
              <a:gd name="adj" fmla="val 14286"/>
            </a:avLst>
          </a:prstGeom>
          <a:solidFill>
            <a:srgbClr val="FFF3EC"/>
          </a:solidFill>
          <a:ln w="12700">
            <a:solidFill>
              <a:srgbClr val="FF7A4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5800" y="6108192"/>
            <a:ext cx="108173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add screenshots of the working SentinelX dashboard during the presentation.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Incident Response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triage to closed incident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172669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0B8C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920240"/>
            <a:ext cx="16352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289048" y="2276856"/>
            <a:ext cx="118872" cy="292608"/>
          </a:xfrm>
          <a:prstGeom prst="chevron">
            <a:avLst/>
          </a:prstGeom>
          <a:solidFill>
            <a:srgbClr val="FF7A45"/>
          </a:solidFill>
          <a:ln/>
        </p:spPr>
      </p:sp>
      <p:sp>
        <p:nvSpPr>
          <p:cNvPr id="7" name="Shape 5"/>
          <p:cNvSpPr/>
          <p:nvPr/>
        </p:nvSpPr>
        <p:spPr>
          <a:xfrm>
            <a:off x="2421636" y="1920240"/>
            <a:ext cx="172669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0B8C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67356" y="1920240"/>
            <a:ext cx="16352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Evidence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62044" y="2276856"/>
            <a:ext cx="118872" cy="292608"/>
          </a:xfrm>
          <a:prstGeom prst="chevron">
            <a:avLst/>
          </a:prstGeom>
          <a:solidFill>
            <a:srgbClr val="FF7A45"/>
          </a:solidFill>
          <a:ln/>
        </p:spPr>
      </p:sp>
      <p:sp>
        <p:nvSpPr>
          <p:cNvPr id="10" name="Shape 8"/>
          <p:cNvSpPr/>
          <p:nvPr/>
        </p:nvSpPr>
        <p:spPr>
          <a:xfrm>
            <a:off x="4294632" y="1920240"/>
            <a:ext cx="172669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0B8C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40352" y="1920240"/>
            <a:ext cx="16352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035040" y="2276856"/>
            <a:ext cx="118872" cy="292608"/>
          </a:xfrm>
          <a:prstGeom prst="chevron">
            <a:avLst/>
          </a:prstGeom>
          <a:solidFill>
            <a:srgbClr val="FF7A45"/>
          </a:solidFill>
          <a:ln/>
        </p:spPr>
      </p:sp>
      <p:sp>
        <p:nvSpPr>
          <p:cNvPr id="13" name="Shape 11"/>
          <p:cNvSpPr/>
          <p:nvPr/>
        </p:nvSpPr>
        <p:spPr>
          <a:xfrm>
            <a:off x="6167628" y="1920240"/>
            <a:ext cx="172669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0B8C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3348" y="1920240"/>
            <a:ext cx="16352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Eradicate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08036" y="2276856"/>
            <a:ext cx="118872" cy="292608"/>
          </a:xfrm>
          <a:prstGeom prst="chevron">
            <a:avLst/>
          </a:prstGeom>
          <a:solidFill>
            <a:srgbClr val="FF7A45"/>
          </a:solidFill>
          <a:ln/>
        </p:spPr>
      </p:sp>
      <p:sp>
        <p:nvSpPr>
          <p:cNvPr id="16" name="Shape 14"/>
          <p:cNvSpPr/>
          <p:nvPr/>
        </p:nvSpPr>
        <p:spPr>
          <a:xfrm>
            <a:off x="8040624" y="1920240"/>
            <a:ext cx="172669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0B8C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86344" y="1920240"/>
            <a:ext cx="16352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781032" y="2276856"/>
            <a:ext cx="118872" cy="292608"/>
          </a:xfrm>
          <a:prstGeom prst="chevron">
            <a:avLst/>
          </a:prstGeom>
          <a:solidFill>
            <a:srgbClr val="FF7A45"/>
          </a:solidFill>
          <a:ln/>
        </p:spPr>
      </p:sp>
      <p:sp>
        <p:nvSpPr>
          <p:cNvPr id="19" name="Shape 17"/>
          <p:cNvSpPr/>
          <p:nvPr/>
        </p:nvSpPr>
        <p:spPr>
          <a:xfrm>
            <a:off x="9913620" y="1920240"/>
            <a:ext cx="1726692" cy="1005840"/>
          </a:xfrm>
          <a:prstGeom prst="roundRect">
            <a:avLst>
              <a:gd name="adj" fmla="val 7273"/>
            </a:avLst>
          </a:prstGeom>
          <a:solidFill>
            <a:srgbClr val="FFFFFF"/>
          </a:solidFill>
          <a:ln w="15875">
            <a:solidFill>
              <a:srgbClr val="00B8C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959340" y="1920240"/>
            <a:ext cx="16352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" y="3246120"/>
            <a:ext cx="5385816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3232" y="35112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3319272"/>
            <a:ext cx="45171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 triage and prioritization.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54496" y="3246120"/>
            <a:ext cx="5385816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19088" y="35112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7" name="Text 25"/>
          <p:cNvSpPr/>
          <p:nvPr/>
        </p:nvSpPr>
        <p:spPr>
          <a:xfrm>
            <a:off x="6419088" y="35112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0296" y="3319272"/>
            <a:ext cx="45171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evidence and enrich indicators.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48640" y="4361688"/>
            <a:ext cx="5385816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462686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34440" y="4434840"/>
            <a:ext cx="45171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and track incidents.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254496" y="4361688"/>
            <a:ext cx="5385816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19088" y="462686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35" name="Text 33"/>
          <p:cNvSpPr/>
          <p:nvPr/>
        </p:nvSpPr>
        <p:spPr>
          <a:xfrm>
            <a:off x="6419088" y="46268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40296" y="4434840"/>
            <a:ext cx="45171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containment, eradication and recovery decisions.</a:t>
            </a:r>
            <a:endParaRPr lang="en-US" sz="1350" dirty="0"/>
          </a:p>
        </p:txBody>
      </p:sp>
      <p:sp>
        <p:nvSpPr>
          <p:cNvPr id="37" name="Shape 35"/>
          <p:cNvSpPr/>
          <p:nvPr/>
        </p:nvSpPr>
        <p:spPr>
          <a:xfrm>
            <a:off x="548640" y="5477256"/>
            <a:ext cx="5385816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13232" y="574243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39" name="Text 37"/>
          <p:cNvSpPr/>
          <p:nvPr/>
        </p:nvSpPr>
        <p:spPr>
          <a:xfrm>
            <a:off x="713232" y="5742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234440" y="5550408"/>
            <a:ext cx="45171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 investigation findings.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6254496" y="5477256"/>
            <a:ext cx="5385816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419088" y="574243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43" name="Text 41"/>
          <p:cNvSpPr/>
          <p:nvPr/>
        </p:nvSpPr>
        <p:spPr>
          <a:xfrm>
            <a:off x="6419088" y="5742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44" name="Text 42"/>
          <p:cNvSpPr/>
          <p:nvPr/>
        </p:nvSpPr>
        <p:spPr>
          <a:xfrm>
            <a:off x="6940296" y="5550408"/>
            <a:ext cx="451713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incident summaries and reports.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Testing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9110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73352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API and database connectivity testing.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1600200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19088" y="19110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9" name="Text 7"/>
          <p:cNvSpPr/>
          <p:nvPr/>
        </p:nvSpPr>
        <p:spPr>
          <a:xfrm>
            <a:off x="6419088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0296" y="1673352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pipeline testing.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31181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880360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IOC storage and normalization testing.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54496" y="2807208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9088" y="31181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7" name="Text 15"/>
          <p:cNvSpPr/>
          <p:nvPr/>
        </p:nvSpPr>
        <p:spPr>
          <a:xfrm>
            <a:off x="6419088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0296" y="2880360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Risk-scoring validation.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014216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43251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087368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and Sysmon ingestion checks.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54496" y="4014216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19088" y="43251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5" name="Text 23"/>
          <p:cNvSpPr/>
          <p:nvPr/>
        </p:nvSpPr>
        <p:spPr>
          <a:xfrm>
            <a:off x="6419088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0296" y="4087368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and correlation workflow testing.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5221224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3232" y="55321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34440" y="5294376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security workflow validation.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254496" y="5221224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19088" y="55321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33" name="Text 31"/>
          <p:cNvSpPr/>
          <p:nvPr/>
        </p:nvSpPr>
        <p:spPr>
          <a:xfrm>
            <a:off x="6419088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40296" y="5294376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attack simulations can be used for further validation.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06070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has been implemented and validated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0A1628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73352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4+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31520" y="222199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integrated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52544" y="1600200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0A1628"/>
          </a:solidFill>
          <a:ln/>
        </p:spPr>
      </p:sp>
      <p:sp>
        <p:nvSpPr>
          <p:cNvPr id="8" name="Text 6"/>
          <p:cNvSpPr/>
          <p:nvPr/>
        </p:nvSpPr>
        <p:spPr>
          <a:xfrm>
            <a:off x="4352544" y="1673352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535424" y="222199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detection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56448" y="1600200"/>
            <a:ext cx="3483864" cy="1051560"/>
          </a:xfrm>
          <a:prstGeom prst="roundRect">
            <a:avLst>
              <a:gd name="adj" fmla="val 7826"/>
            </a:avLst>
          </a:prstGeom>
          <a:solidFill>
            <a:srgbClr val="0A1628"/>
          </a:solidFill>
          <a:ln/>
        </p:spPr>
      </p:sp>
      <p:sp>
        <p:nvSpPr>
          <p:cNvPr id="11" name="Text 9"/>
          <p:cNvSpPr/>
          <p:nvPr/>
        </p:nvSpPr>
        <p:spPr>
          <a:xfrm>
            <a:off x="8156448" y="1673352"/>
            <a:ext cx="348386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B8C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8339328" y="2221992"/>
            <a:ext cx="31181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Analyst-facing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D7EF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48640" y="2971800"/>
            <a:ext cx="538581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713232" y="321411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5" name="Text 13"/>
          <p:cNvSpPr/>
          <p:nvPr/>
        </p:nvSpPr>
        <p:spPr>
          <a:xfrm>
            <a:off x="713232" y="32141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34440" y="3044952"/>
            <a:ext cx="45171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backend and PostgreSQL storage successfully implemented.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54496" y="2971800"/>
            <a:ext cx="538581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19088" y="321411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9" name="Text 17"/>
          <p:cNvSpPr/>
          <p:nvPr/>
        </p:nvSpPr>
        <p:spPr>
          <a:xfrm>
            <a:off x="6419088" y="32141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40296" y="3044952"/>
            <a:ext cx="45171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intelligence aggregation and IOC enrichment implemented.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4041648"/>
            <a:ext cx="538581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13232" y="428396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3" name="Text 21"/>
          <p:cNvSpPr/>
          <p:nvPr/>
        </p:nvSpPr>
        <p:spPr>
          <a:xfrm>
            <a:off x="713232" y="42839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34440" y="4114800"/>
            <a:ext cx="45171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scoring and analysis storage validated.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6254496" y="4041648"/>
            <a:ext cx="538581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419088" y="428396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7" name="Text 25"/>
          <p:cNvSpPr/>
          <p:nvPr/>
        </p:nvSpPr>
        <p:spPr>
          <a:xfrm>
            <a:off x="6419088" y="42839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940296" y="4114800"/>
            <a:ext cx="45171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Wazuh + Sysmon integration established.</a:t>
            </a:r>
            <a:endParaRPr lang="en-US" sz="1350" dirty="0"/>
          </a:p>
        </p:txBody>
      </p:sp>
      <p:sp>
        <p:nvSpPr>
          <p:cNvPr id="29" name="Shape 27"/>
          <p:cNvSpPr/>
          <p:nvPr/>
        </p:nvSpPr>
        <p:spPr>
          <a:xfrm>
            <a:off x="548640" y="5111496"/>
            <a:ext cx="538581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13232" y="53538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31" name="Text 29"/>
          <p:cNvSpPr/>
          <p:nvPr/>
        </p:nvSpPr>
        <p:spPr>
          <a:xfrm>
            <a:off x="713232" y="5353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1234440" y="5184648"/>
            <a:ext cx="45171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 and investigation workflow implemented.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6254496" y="5111496"/>
            <a:ext cx="5385816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19088" y="53538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35" name="Text 33"/>
          <p:cNvSpPr/>
          <p:nvPr/>
        </p:nvSpPr>
        <p:spPr>
          <a:xfrm>
            <a:off x="6419088" y="53538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940296" y="5184648"/>
            <a:ext cx="4517136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Threat hunting, phishing, honeypot, ML and AI components developed.</a:t>
            </a:r>
            <a:endParaRPr lang="en-US" sz="1350" dirty="0"/>
          </a:p>
        </p:txBody>
      </p:sp>
      <p:sp>
        <p:nvSpPr>
          <p:cNvPr id="37" name="Text 35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0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13232" y="19110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5" name="Text 3"/>
          <p:cNvSpPr/>
          <p:nvPr/>
        </p:nvSpPr>
        <p:spPr>
          <a:xfrm>
            <a:off x="713232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34440" y="1673352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threat intelligence source coverage.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54496" y="1600200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19088" y="1911096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9" name="Text 7"/>
          <p:cNvSpPr/>
          <p:nvPr/>
        </p:nvSpPr>
        <p:spPr>
          <a:xfrm>
            <a:off x="6419088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940296" y="1673352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ML models using larger validated datasets.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807208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13232" y="31181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3" name="Text 11"/>
          <p:cNvSpPr/>
          <p:nvPr/>
        </p:nvSpPr>
        <p:spPr>
          <a:xfrm>
            <a:off x="713232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34440" y="2880360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advanced behavioral and anomaly detection.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254496" y="2807208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419088" y="3118104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17" name="Text 15"/>
          <p:cNvSpPr/>
          <p:nvPr/>
        </p:nvSpPr>
        <p:spPr>
          <a:xfrm>
            <a:off x="6419088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940296" y="2880360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MITRE ATT&amp;CK mapping and attack-path visualization.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014216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13232" y="43251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34440" y="4087368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SOAR-style response playbooks.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6254496" y="4014216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19088" y="4325112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5" name="Text 23"/>
          <p:cNvSpPr/>
          <p:nvPr/>
        </p:nvSpPr>
        <p:spPr>
          <a:xfrm>
            <a:off x="6419088" y="4325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40296" y="4087368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controlled automated containment actions.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548640" y="5221224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13232" y="55321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29" name="Text 27"/>
          <p:cNvSpPr/>
          <p:nvPr/>
        </p:nvSpPr>
        <p:spPr>
          <a:xfrm>
            <a:off x="713232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34440" y="5294376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 and scale the platform for production.</a:t>
            </a:r>
            <a:endParaRPr lang="en-US" sz="1350" dirty="0"/>
          </a:p>
        </p:txBody>
      </p:sp>
      <p:sp>
        <p:nvSpPr>
          <p:cNvPr id="31" name="Shape 29"/>
          <p:cNvSpPr/>
          <p:nvPr/>
        </p:nvSpPr>
        <p:spPr>
          <a:xfrm>
            <a:off x="6254496" y="5221224"/>
            <a:ext cx="5385816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sx="100000" sy="100000" kx="0" ky="0" algn="bl" rotWithShape="0" blurRad="76200" dist="25400" dir="5400000">
              <a:srgbClr val="1B2733">
                <a:alpha val="1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419088" y="5532120"/>
            <a:ext cx="384048" cy="384048"/>
          </a:xfrm>
          <a:prstGeom prst="roundRect">
            <a:avLst>
              <a:gd name="adj" fmla="val 21429"/>
            </a:avLst>
          </a:prstGeom>
          <a:solidFill>
            <a:srgbClr val="00B8C4"/>
          </a:solidFill>
          <a:ln/>
        </p:spPr>
      </p:sp>
      <p:sp>
        <p:nvSpPr>
          <p:cNvPr id="33" name="Text 31"/>
          <p:cNvSpPr/>
          <p:nvPr/>
        </p:nvSpPr>
        <p:spPr>
          <a:xfrm>
            <a:off x="6419088" y="5532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40296" y="5294376"/>
            <a:ext cx="4517136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10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cloud deployment and multi-tenant architecture.</a:t>
            </a:r>
            <a:endParaRPr lang="en-US" sz="1350" dirty="0"/>
          </a:p>
        </p:txBody>
      </p:sp>
      <p:sp>
        <p:nvSpPr>
          <p:cNvPr id="35" name="Text 3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764792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00B8C4"/>
          </a:solidFill>
          <a:ln/>
        </p:spPr>
      </p:sp>
      <p:sp>
        <p:nvSpPr>
          <p:cNvPr id="4" name="Text 2"/>
          <p:cNvSpPr/>
          <p:nvPr/>
        </p:nvSpPr>
        <p:spPr>
          <a:xfrm>
            <a:off x="1234440" y="155448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SentinelX combines threat intelligence, SIEM, endpoint monitoring and intelligent analysis.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31520" y="2532888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00B8C4"/>
          </a:solidFill>
          <a:ln/>
        </p:spPr>
      </p:sp>
      <p:sp>
        <p:nvSpPr>
          <p:cNvPr id="6" name="Text 4"/>
          <p:cNvSpPr/>
          <p:nvPr/>
        </p:nvSpPr>
        <p:spPr>
          <a:xfrm>
            <a:off x="1234440" y="2322576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reduces manual IOC enrichment and improves alert context.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31520" y="3300984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00B8C4"/>
          </a:solidFill>
          <a:ln/>
        </p:spPr>
      </p:sp>
      <p:sp>
        <p:nvSpPr>
          <p:cNvPr id="8" name="Text 6"/>
          <p:cNvSpPr/>
          <p:nvPr/>
        </p:nvSpPr>
        <p:spPr>
          <a:xfrm>
            <a:off x="1234440" y="3090672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supports proactive hunting, phishing and honeypot investigation.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31520" y="4069080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00B8C4"/>
          </a:solidFill>
          <a:ln/>
        </p:spPr>
      </p:sp>
      <p:sp>
        <p:nvSpPr>
          <p:cNvPr id="10" name="Text 8"/>
          <p:cNvSpPr/>
          <p:nvPr/>
        </p:nvSpPr>
        <p:spPr>
          <a:xfrm>
            <a:off x="1234440" y="3858768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adds an additional detection and prioritization layer.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31520" y="4837176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00B8C4"/>
          </a:solidFill>
          <a:ln/>
        </p:spPr>
      </p:sp>
      <p:sp>
        <p:nvSpPr>
          <p:cNvPr id="12" name="Text 10"/>
          <p:cNvSpPr/>
          <p:nvPr/>
        </p:nvSpPr>
        <p:spPr>
          <a:xfrm>
            <a:off x="1234440" y="4626864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SOC Agent assists analysts throughout investigation.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31520" y="5605272"/>
            <a:ext cx="292608" cy="292608"/>
          </a:xfrm>
          <a:prstGeom prst="roundRect">
            <a:avLst>
              <a:gd name="adj" fmla="val 21875"/>
            </a:avLst>
          </a:prstGeom>
          <a:solidFill>
            <a:srgbClr val="00B8C4"/>
          </a:solidFill>
          <a:ln/>
        </p:spPr>
      </p:sp>
      <p:sp>
        <p:nvSpPr>
          <p:cNvPr id="14" name="Text 12"/>
          <p:cNvSpPr/>
          <p:nvPr/>
        </p:nvSpPr>
        <p:spPr>
          <a:xfrm>
            <a:off x="1234440" y="5394960"/>
            <a:ext cx="100584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SentinelX is a practical foundation for an intelligent SOC platform.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147572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2026-08-21T05:14:42Z</dcterms:created>
  <dcterms:modified xsi:type="dcterms:W3CDTF">2026-08-21T05:14:42Z</dcterms:modified>
</cp:coreProperties>
</file>